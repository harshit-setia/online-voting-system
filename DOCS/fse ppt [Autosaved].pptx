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m4Cp8K6S0r5Ol6uBW1T64RQN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04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8cc1880d77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g38cc1880d77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18"/>
        <p:cNvGrpSpPr/>
        <p:nvPr/>
      </p:nvGrpSpPr>
      <p:grpSpPr>
        <a:xfrm>
          <a:off x="0" y="0"/>
          <a:ext cx="0" cy="0"/>
          <a:chOff x="0" y="0"/>
          <a:chExt cx="0" cy="0"/>
        </a:xfrm>
      </p:grpSpPr>
      <p:sp>
        <p:nvSpPr>
          <p:cNvPr id="19" name="Google Shape;19;p22"/>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sp>
        <p:nvSpPr>
          <p:cNvPr id="21" name="Google Shape;21;p23"/>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2" name="Google Shape;22;p23"/>
          <p:cNvSpPr txBox="1">
            <a:spLocks noGrp="1"/>
          </p:cNvSpPr>
          <p:nvPr>
            <p:ph type="body" idx="1"/>
          </p:nvPr>
        </p:nvSpPr>
        <p:spPr>
          <a:xfrm>
            <a:off x="460248" y="1433524"/>
            <a:ext cx="8223503" cy="3938906"/>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23" name="Google Shape;23;p23"/>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sp>
        <p:nvSpPr>
          <p:cNvPr id="25" name="Google Shape;25;p24"/>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6" name="Google Shape;26;p24"/>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25"/>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25"/>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0" name="Google Shape;30;p25" descr="bg object 18"/>
          <p:cNvPicPr preferRelativeResize="0"/>
          <p:nvPr/>
        </p:nvPicPr>
        <p:blipFill rotWithShape="1">
          <a:blip r:embed="rId2">
            <a:alphaModFix/>
          </a:blip>
          <a:srcRect/>
          <a:stretch/>
        </p:blipFill>
        <p:spPr>
          <a:xfrm>
            <a:off x="6553072" y="228536"/>
            <a:ext cx="2057020" cy="634682"/>
          </a:xfrm>
          <a:prstGeom prst="rect">
            <a:avLst/>
          </a:prstGeom>
          <a:noFill/>
          <a:ln>
            <a:noFill/>
          </a:ln>
        </p:spPr>
      </p:pic>
      <p:pic>
        <p:nvPicPr>
          <p:cNvPr id="31" name="Google Shape;31;p25" descr="bg object 19"/>
          <p:cNvPicPr preferRelativeResize="0"/>
          <p:nvPr/>
        </p:nvPicPr>
        <p:blipFill rotWithShape="1">
          <a:blip r:embed="rId3">
            <a:alphaModFix/>
          </a:blip>
          <a:srcRect/>
          <a:stretch/>
        </p:blipFill>
        <p:spPr>
          <a:xfrm>
            <a:off x="6553072" y="228600"/>
            <a:ext cx="1920241" cy="609092"/>
          </a:xfrm>
          <a:prstGeom prst="rect">
            <a:avLst/>
          </a:prstGeom>
          <a:noFill/>
          <a:ln>
            <a:noFill/>
          </a:ln>
        </p:spPr>
      </p:pic>
      <p:pic>
        <p:nvPicPr>
          <p:cNvPr id="32" name="Google Shape;32;p25" descr="bg object 20"/>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33" name="Google Shape;33;p25"/>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4" name="Google Shape;34;p25" descr="bg object 22"/>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35" name="Google Shape;35;p25"/>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6" name="Google Shape;36;p25" descr="bg object 24"/>
          <p:cNvPicPr preferRelativeResize="0"/>
          <p:nvPr/>
        </p:nvPicPr>
        <p:blipFill rotWithShape="1">
          <a:blip r:embed="rId3">
            <a:alphaModFix/>
          </a:blip>
          <a:srcRect/>
          <a:stretch/>
        </p:blipFill>
        <p:spPr>
          <a:xfrm>
            <a:off x="6553072" y="228600"/>
            <a:ext cx="1920241" cy="609092"/>
          </a:xfrm>
          <a:prstGeom prst="rect">
            <a:avLst/>
          </a:prstGeom>
          <a:noFill/>
          <a:ln>
            <a:noFill/>
          </a:ln>
        </p:spPr>
      </p:pic>
      <p:sp>
        <p:nvSpPr>
          <p:cNvPr id="37" name="Google Shape;37;p25"/>
          <p:cNvSpPr txBox="1">
            <a:spLocks noGrp="1"/>
          </p:cNvSpPr>
          <p:nvPr>
            <p:ph type="title"/>
          </p:nvPr>
        </p:nvSpPr>
        <p:spPr>
          <a:xfrm>
            <a:off x="685800" y="2125979"/>
            <a:ext cx="7772400" cy="144018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8" name="Google Shape;38;p25"/>
          <p:cNvSpPr txBox="1">
            <a:spLocks noGrp="1"/>
          </p:cNvSpPr>
          <p:nvPr>
            <p:ph type="body" idx="1"/>
          </p:nvPr>
        </p:nvSpPr>
        <p:spPr>
          <a:xfrm>
            <a:off x="1371600" y="3840479"/>
            <a:ext cx="6400800" cy="171450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39" name="Google Shape;39;p25"/>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p:cSld name="Two Content">
    <p:spTree>
      <p:nvGrpSpPr>
        <p:cNvPr id="1" name="Shape 40"/>
        <p:cNvGrpSpPr/>
        <p:nvPr/>
      </p:nvGrpSpPr>
      <p:grpSpPr>
        <a:xfrm>
          <a:off x="0" y="0"/>
          <a:ext cx="0" cy="0"/>
          <a:chOff x="0" y="0"/>
          <a:chExt cx="0" cy="0"/>
        </a:xfrm>
      </p:grpSpPr>
      <p:sp>
        <p:nvSpPr>
          <p:cNvPr id="41" name="Google Shape;41;p26"/>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42;p26"/>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3" name="Google Shape;43;p26" descr="bg object 18"/>
          <p:cNvPicPr preferRelativeResize="0"/>
          <p:nvPr/>
        </p:nvPicPr>
        <p:blipFill rotWithShape="1">
          <a:blip r:embed="rId2">
            <a:alphaModFix/>
          </a:blip>
          <a:srcRect/>
          <a:stretch/>
        </p:blipFill>
        <p:spPr>
          <a:xfrm>
            <a:off x="6553072" y="228536"/>
            <a:ext cx="2057020" cy="634682"/>
          </a:xfrm>
          <a:prstGeom prst="rect">
            <a:avLst/>
          </a:prstGeom>
          <a:noFill/>
          <a:ln>
            <a:noFill/>
          </a:ln>
        </p:spPr>
      </p:pic>
      <p:pic>
        <p:nvPicPr>
          <p:cNvPr id="44" name="Google Shape;44;p26" descr="bg object 19"/>
          <p:cNvPicPr preferRelativeResize="0"/>
          <p:nvPr/>
        </p:nvPicPr>
        <p:blipFill rotWithShape="1">
          <a:blip r:embed="rId3">
            <a:alphaModFix/>
          </a:blip>
          <a:srcRect/>
          <a:stretch/>
        </p:blipFill>
        <p:spPr>
          <a:xfrm>
            <a:off x="6553072" y="228600"/>
            <a:ext cx="1920241" cy="609092"/>
          </a:xfrm>
          <a:prstGeom prst="rect">
            <a:avLst/>
          </a:prstGeom>
          <a:noFill/>
          <a:ln>
            <a:noFill/>
          </a:ln>
        </p:spPr>
      </p:pic>
      <p:pic>
        <p:nvPicPr>
          <p:cNvPr id="45" name="Google Shape;45;p26" descr="bg object 20"/>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46" name="Google Shape;46;p26"/>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7" name="Google Shape;47;p26" descr="bg object 22"/>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48" name="Google Shape;48;p26"/>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Google Shape;49;p26" descr="bg object 24"/>
          <p:cNvPicPr preferRelativeResize="0"/>
          <p:nvPr/>
        </p:nvPicPr>
        <p:blipFill rotWithShape="1">
          <a:blip r:embed="rId3">
            <a:alphaModFix/>
          </a:blip>
          <a:srcRect/>
          <a:stretch/>
        </p:blipFill>
        <p:spPr>
          <a:xfrm>
            <a:off x="6553072" y="228600"/>
            <a:ext cx="1920241" cy="609092"/>
          </a:xfrm>
          <a:prstGeom prst="rect">
            <a:avLst/>
          </a:prstGeom>
          <a:noFill/>
          <a:ln>
            <a:noFill/>
          </a:ln>
        </p:spPr>
      </p:pic>
      <p:sp>
        <p:nvSpPr>
          <p:cNvPr id="50" name="Google Shape;50;p26"/>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51" name="Google Shape;51;p26"/>
          <p:cNvSpPr txBox="1">
            <a:spLocks noGrp="1"/>
          </p:cNvSpPr>
          <p:nvPr>
            <p:ph type="body" idx="1"/>
          </p:nvPr>
        </p:nvSpPr>
        <p:spPr>
          <a:xfrm>
            <a:off x="457200" y="1577339"/>
            <a:ext cx="3977641" cy="452628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52" name="Google Shape;52;p26"/>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1"/>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 name="Google Shape;7;p21"/>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8" name="Google Shape;8;p21" descr="bg object 18"/>
          <p:cNvPicPr preferRelativeResize="0"/>
          <p:nvPr/>
        </p:nvPicPr>
        <p:blipFill rotWithShape="1">
          <a:blip r:embed="rId7">
            <a:alphaModFix/>
          </a:blip>
          <a:srcRect/>
          <a:stretch/>
        </p:blipFill>
        <p:spPr>
          <a:xfrm>
            <a:off x="6553072" y="228536"/>
            <a:ext cx="2057020" cy="634682"/>
          </a:xfrm>
          <a:prstGeom prst="rect">
            <a:avLst/>
          </a:prstGeom>
          <a:noFill/>
          <a:ln>
            <a:noFill/>
          </a:ln>
        </p:spPr>
      </p:pic>
      <p:pic>
        <p:nvPicPr>
          <p:cNvPr id="9" name="Google Shape;9;p21" descr="bg object 19"/>
          <p:cNvPicPr preferRelativeResize="0"/>
          <p:nvPr/>
        </p:nvPicPr>
        <p:blipFill rotWithShape="1">
          <a:blip r:embed="rId8">
            <a:alphaModFix/>
          </a:blip>
          <a:srcRect/>
          <a:stretch/>
        </p:blipFill>
        <p:spPr>
          <a:xfrm>
            <a:off x="6553072" y="228600"/>
            <a:ext cx="1920241" cy="609092"/>
          </a:xfrm>
          <a:prstGeom prst="rect">
            <a:avLst/>
          </a:prstGeom>
          <a:noFill/>
          <a:ln>
            <a:noFill/>
          </a:ln>
        </p:spPr>
      </p:pic>
      <p:pic>
        <p:nvPicPr>
          <p:cNvPr id="10" name="Google Shape;10;p21" descr="bg object 20"/>
          <p:cNvPicPr preferRelativeResize="0"/>
          <p:nvPr/>
        </p:nvPicPr>
        <p:blipFill rotWithShape="1">
          <a:blip r:embed="rId9">
            <a:alphaModFix/>
          </a:blip>
          <a:srcRect/>
          <a:stretch/>
        </p:blipFill>
        <p:spPr>
          <a:xfrm>
            <a:off x="6553072" y="228536"/>
            <a:ext cx="2057020" cy="634682"/>
          </a:xfrm>
          <a:prstGeom prst="rect">
            <a:avLst/>
          </a:prstGeom>
          <a:noFill/>
          <a:ln>
            <a:noFill/>
          </a:ln>
        </p:spPr>
      </p:pic>
      <p:sp>
        <p:nvSpPr>
          <p:cNvPr id="11" name="Google Shape;11;p21"/>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2" name="Google Shape;12;p21" descr="bg object 22"/>
          <p:cNvPicPr preferRelativeResize="0"/>
          <p:nvPr/>
        </p:nvPicPr>
        <p:blipFill rotWithShape="1">
          <a:blip r:embed="rId9">
            <a:alphaModFix/>
          </a:blip>
          <a:srcRect/>
          <a:stretch/>
        </p:blipFill>
        <p:spPr>
          <a:xfrm>
            <a:off x="6553072" y="228536"/>
            <a:ext cx="2057020" cy="634682"/>
          </a:xfrm>
          <a:prstGeom prst="rect">
            <a:avLst/>
          </a:prstGeom>
          <a:noFill/>
          <a:ln>
            <a:noFill/>
          </a:ln>
        </p:spPr>
      </p:pic>
      <p:sp>
        <p:nvSpPr>
          <p:cNvPr id="13" name="Google Shape;13;p21"/>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 name="Google Shape;14;p21" descr="bg object 24"/>
          <p:cNvPicPr preferRelativeResize="0"/>
          <p:nvPr/>
        </p:nvPicPr>
        <p:blipFill rotWithShape="1">
          <a:blip r:embed="rId8">
            <a:alphaModFix/>
          </a:blip>
          <a:srcRect/>
          <a:stretch/>
        </p:blipFill>
        <p:spPr>
          <a:xfrm>
            <a:off x="6553072" y="228600"/>
            <a:ext cx="1920241" cy="609092"/>
          </a:xfrm>
          <a:prstGeom prst="rect">
            <a:avLst/>
          </a:prstGeom>
          <a:noFill/>
          <a:ln>
            <a:noFill/>
          </a:ln>
        </p:spPr>
      </p:pic>
      <p:sp>
        <p:nvSpPr>
          <p:cNvPr id="15" name="Google Shape;15;p21"/>
          <p:cNvSpPr txBox="1">
            <a:spLocks noGrp="1"/>
          </p:cNvSpPr>
          <p:nvPr>
            <p:ph type="title"/>
          </p:nvPr>
        </p:nvSpPr>
        <p:spPr>
          <a:xfrm>
            <a:off x="457200" y="274637"/>
            <a:ext cx="8229600" cy="1325564"/>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9pPr>
          </a:lstStyle>
          <a:p>
            <a:endParaRPr/>
          </a:p>
        </p:txBody>
      </p:sp>
      <p:sp>
        <p:nvSpPr>
          <p:cNvPr id="16" name="Google Shape;16;p21"/>
          <p:cNvSpPr txBox="1">
            <a:spLocks noGrp="1"/>
          </p:cNvSpPr>
          <p:nvPr>
            <p:ph type="body" idx="1"/>
          </p:nvPr>
        </p:nvSpPr>
        <p:spPr>
          <a:xfrm>
            <a:off x="457200" y="1600200"/>
            <a:ext cx="8229600" cy="5257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endParaRPr/>
          </a:p>
        </p:txBody>
      </p:sp>
      <p:sp>
        <p:nvSpPr>
          <p:cNvPr id="17" name="Google Shape;17;p21"/>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p:nvPr/>
        </p:nvSpPr>
        <p:spPr>
          <a:xfrm>
            <a:off x="656335" y="877797"/>
            <a:ext cx="7828800" cy="57372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400" b="1" i="0" u="none" strike="noStrike" cap="none" dirty="0">
                <a:solidFill>
                  <a:srgbClr val="000000"/>
                </a:solidFill>
                <a:latin typeface="Times New Roman"/>
                <a:ea typeface="Times New Roman"/>
                <a:cs typeface="Times New Roman"/>
                <a:sym typeface="Times New Roman"/>
              </a:rPr>
              <a:t>Project Presentation of Full Stack Project</a:t>
            </a:r>
            <a:endParaRPr dirty="0"/>
          </a:p>
          <a:p>
            <a:pPr marL="0" marR="0" lvl="0" indent="0" algn="ctr" rtl="0">
              <a:lnSpc>
                <a:spcPct val="100000"/>
              </a:lnSpc>
              <a:spcBef>
                <a:spcPts val="0"/>
              </a:spcBef>
              <a:spcAft>
                <a:spcPts val="0"/>
              </a:spcAft>
              <a:buClr>
                <a:srgbClr val="000000"/>
              </a:buClr>
              <a:buSzPts val="2000"/>
              <a:buFont typeface="Times New Roman"/>
              <a:buNone/>
            </a:pPr>
            <a:endParaRPr sz="1400" b="0" i="0" u="none" strike="noStrike" cap="none" dirty="0">
              <a:solidFill>
                <a:srgbClr val="000000"/>
              </a:solidFill>
              <a:latin typeface="Arial"/>
              <a:ea typeface="Arial"/>
              <a:cs typeface="Arial"/>
              <a:sym typeface="Arial"/>
            </a:endParaRPr>
          </a:p>
          <a:p>
            <a:pPr marL="0" marR="0" lvl="0" indent="1905" algn="ctr" rtl="0">
              <a:lnSpc>
                <a:spcPct val="100000"/>
              </a:lnSpc>
              <a:spcBef>
                <a:spcPts val="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On</a:t>
            </a:r>
            <a:endParaRPr sz="1400" b="0" i="0" u="none" strike="noStrike" cap="none" dirty="0">
              <a:solidFill>
                <a:srgbClr val="000000"/>
              </a:solidFill>
              <a:latin typeface="Arial"/>
              <a:ea typeface="Arial"/>
              <a:cs typeface="Arial"/>
              <a:sym typeface="Arial"/>
            </a:endParaRPr>
          </a:p>
          <a:p>
            <a:pPr marL="0" marR="0" lvl="0" indent="153035" algn="ctr" rtl="0">
              <a:lnSpc>
                <a:spcPct val="100000"/>
              </a:lnSpc>
              <a:spcBef>
                <a:spcPts val="200"/>
              </a:spcBef>
              <a:spcAft>
                <a:spcPts val="0"/>
              </a:spcAft>
              <a:buClr>
                <a:srgbClr val="000000"/>
              </a:buClr>
              <a:buSzPts val="4800"/>
              <a:buFont typeface="Times New Roman"/>
              <a:buNone/>
            </a:pPr>
            <a:r>
              <a:rPr lang="en-US" sz="3900" b="0" i="0" u="none" strike="noStrike" cap="none" dirty="0">
                <a:solidFill>
                  <a:srgbClr val="000000"/>
                </a:solidFill>
                <a:latin typeface="Times New Roman"/>
                <a:ea typeface="Times New Roman"/>
                <a:cs typeface="Times New Roman"/>
                <a:sym typeface="Times New Roman"/>
              </a:rPr>
              <a:t>Online Voting System</a:t>
            </a:r>
            <a:endParaRPr sz="500" b="0" i="0" u="none" strike="noStrike" cap="none" dirty="0">
              <a:solidFill>
                <a:srgbClr val="000000"/>
              </a:solidFill>
              <a:latin typeface="Arial"/>
              <a:ea typeface="Arial"/>
              <a:cs typeface="Arial"/>
              <a:sym typeface="Arial"/>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Harshit - 2310990684</a:t>
            </a:r>
            <a:endParaRPr sz="2000" b="0" i="0" u="none" strike="noStrike" cap="none" dirty="0">
              <a:solidFill>
                <a:srgbClr val="000000"/>
              </a:solidFill>
              <a:latin typeface="Times New Roman"/>
              <a:ea typeface="Times New Roman"/>
              <a:cs typeface="Times New Roman"/>
              <a:sym typeface="Times New Roman"/>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Ishita – 2310990695</a:t>
            </a:r>
            <a:endParaRPr dirty="0"/>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Somya Sharma - 2310991297</a:t>
            </a:r>
            <a:endParaRPr sz="2000" b="0" i="0" u="none" strike="noStrike" cap="none" dirty="0">
              <a:solidFill>
                <a:srgbClr val="000000"/>
              </a:solidFill>
              <a:latin typeface="Times New Roman"/>
              <a:ea typeface="Times New Roman"/>
              <a:cs typeface="Times New Roman"/>
              <a:sym typeface="Times New Roman"/>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Liza Garg - 2310991334</a:t>
            </a:r>
            <a:endParaRPr sz="2000" b="0" i="0" u="none" strike="noStrike" cap="none" dirty="0">
              <a:solidFill>
                <a:srgbClr val="000000"/>
              </a:solidFill>
              <a:latin typeface="Times New Roman"/>
              <a:ea typeface="Times New Roman"/>
              <a:cs typeface="Times New Roman"/>
              <a:sym typeface="Times New Roman"/>
            </a:endParaRPr>
          </a:p>
          <a:p>
            <a:pPr marL="0" marR="0" lvl="0" indent="3175" algn="ctr" rtl="0">
              <a:lnSpc>
                <a:spcPct val="100000"/>
              </a:lnSpc>
              <a:spcBef>
                <a:spcPts val="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300"/>
              </a:spcBef>
              <a:spcAft>
                <a:spcPts val="0"/>
              </a:spcAft>
              <a:buClr>
                <a:srgbClr val="000000"/>
              </a:buClr>
              <a:buSzPts val="2000"/>
              <a:buFont typeface="Times New Roman"/>
              <a:buNone/>
            </a:pPr>
            <a:r>
              <a:rPr lang="en-IN" sz="2000" b="0" i="0" u="none" strike="noStrike" cap="none" dirty="0">
                <a:solidFill>
                  <a:srgbClr val="FF0000"/>
                </a:solidFill>
                <a:latin typeface="Times New Roman"/>
                <a:ea typeface="Times New Roman"/>
                <a:cs typeface="Times New Roman"/>
                <a:sym typeface="Times New Roman"/>
              </a:rPr>
              <a:t>Faculty : Mr Nurul Islam</a:t>
            </a:r>
            <a:endParaRPr sz="2000" b="0" i="0" u="none" strike="noStrike" cap="none" dirty="0">
              <a:solidFill>
                <a:srgbClr val="FF0000"/>
              </a:solidFill>
              <a:latin typeface="Times New Roman"/>
              <a:ea typeface="Times New Roman"/>
              <a:cs typeface="Times New Roman"/>
              <a:sym typeface="Times New Roman"/>
            </a:endParaRPr>
          </a:p>
          <a:p>
            <a:pPr marL="0" marR="785494" lvl="0" indent="793115" algn="ctr" rtl="0">
              <a:lnSpc>
                <a:spcPct val="113700"/>
              </a:lnSpc>
              <a:spcBef>
                <a:spcPts val="0"/>
              </a:spcBef>
              <a:spcAft>
                <a:spcPts val="0"/>
              </a:spcAft>
              <a:buClr>
                <a:srgbClr val="000000"/>
              </a:buClr>
              <a:buSzPts val="2400"/>
              <a:buFont typeface="Times New Roman"/>
              <a:buNone/>
            </a:pPr>
            <a:r>
              <a:rPr lang="en-US" sz="2400" b="0" i="0" u="none" strike="noStrike" cap="none" dirty="0">
                <a:solidFill>
                  <a:srgbClr val="000000"/>
                </a:solidFill>
                <a:latin typeface="Times New Roman"/>
                <a:ea typeface="Times New Roman"/>
                <a:cs typeface="Times New Roman"/>
                <a:sym typeface="Times New Roman"/>
              </a:rPr>
              <a:t>Department of Computer Science and Engineering,  Chitkara University, Punjab</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542925" y="148843"/>
            <a:ext cx="3943350" cy="513717"/>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3200"/>
              <a:buFont typeface="Times New Roman"/>
              <a:buNone/>
            </a:pPr>
            <a:r>
              <a:rPr lang="en-US" sz="3200"/>
              <a:t>Introduction</a:t>
            </a:r>
            <a:endParaRPr/>
          </a:p>
        </p:txBody>
      </p:sp>
      <p:sp>
        <p:nvSpPr>
          <p:cNvPr id="64" name="Google Shape;64;p2"/>
          <p:cNvSpPr/>
          <p:nvPr/>
        </p:nvSpPr>
        <p:spPr>
          <a:xfrm>
            <a:off x="191453" y="1006465"/>
            <a:ext cx="8761094" cy="5442516"/>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An </a:t>
            </a:r>
            <a:r>
              <a:rPr lang="en-US" sz="1800" b="1" i="0" u="none" strike="noStrike" cap="none">
                <a:solidFill>
                  <a:schemeClr val="dk1"/>
                </a:solidFill>
                <a:latin typeface="Arial"/>
                <a:ea typeface="Arial"/>
                <a:cs typeface="Arial"/>
                <a:sym typeface="Arial"/>
              </a:rPr>
              <a:t>Online Voting System</a:t>
            </a:r>
            <a:r>
              <a:rPr lang="en-US" sz="1800" b="0" i="0" u="none" strike="noStrike" cap="none">
                <a:solidFill>
                  <a:schemeClr val="dk1"/>
                </a:solidFill>
                <a:latin typeface="Arial"/>
                <a:ea typeface="Arial"/>
                <a:cs typeface="Arial"/>
                <a:sym typeface="Arial"/>
              </a:rPr>
              <a:t> is a web-based application designed to facilitate secure, efficient, and transparent digital elections. It provides a centralized platform where users can register, authenticate, and cast their votes, while administrators can manage elections and candidates.</a:t>
            </a:r>
            <a:endParaRPr/>
          </a:p>
          <a:p>
            <a:pPr marL="0" marR="0" lvl="0" indent="0" algn="just"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 today’s digital era, traditional voting systems can be time-consuming and less accessible. This system simplifies the voting process by enabling real-time participation, reducing manual effort, and ensuring accuracy in vote counting.</a:t>
            </a:r>
            <a:endParaRPr/>
          </a:p>
          <a:p>
            <a:pPr marL="0" marR="0" lvl="0" indent="0" algn="just"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With </a:t>
            </a:r>
            <a:r>
              <a:rPr lang="en-US" sz="1800" b="1" i="0" u="none" strike="noStrike" cap="none">
                <a:solidFill>
                  <a:schemeClr val="dk1"/>
                </a:solidFill>
                <a:latin typeface="Arial"/>
                <a:ea typeface="Arial"/>
                <a:cs typeface="Arial"/>
                <a:sym typeface="Arial"/>
              </a:rPr>
              <a:t>role-based access control</a:t>
            </a:r>
            <a:r>
              <a:rPr lang="en-US" sz="1800" b="0" i="0" u="none" strike="noStrike" cap="none">
                <a:solidFill>
                  <a:schemeClr val="dk1"/>
                </a:solidFill>
                <a:latin typeface="Arial"/>
                <a:ea typeface="Arial"/>
                <a:cs typeface="Arial"/>
                <a:sym typeface="Arial"/>
              </a:rPr>
              <a:t>—Admin and Voter—the system ensures secure authentication and controlled access to functionalities. It enhances transparency, prevents duplicate voting, and enables efficient result management, making the election process faster and more reliable.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p:nvPr/>
        </p:nvSpPr>
        <p:spPr>
          <a:xfrm>
            <a:off x="5311114" y="2183482"/>
            <a:ext cx="2913000" cy="215400"/>
          </a:xfrm>
          <a:prstGeom prst="rect">
            <a:avLst/>
          </a:prstGeom>
          <a:noFill/>
          <a:ln>
            <a:noFill/>
          </a:ln>
        </p:spPr>
        <p:txBody>
          <a:bodyPr spcFirstLastPara="1" wrap="square" lIns="0" tIns="0" rIns="0" bIns="0" anchor="t" anchorCtr="0">
            <a:spAutoFit/>
          </a:bodyPr>
          <a:lstStyle/>
          <a:p>
            <a:pPr marL="0" marR="5080" lvl="0" indent="20954" algn="l" rtl="0">
              <a:lnSpc>
                <a:spcPct val="104999"/>
              </a:lnSpc>
              <a:spcBef>
                <a:spcPts val="0"/>
              </a:spcBef>
              <a:spcAft>
                <a:spcPts val="0"/>
              </a:spcAft>
              <a:buClr>
                <a:srgbClr val="000000"/>
              </a:buClr>
              <a:buSzPts val="2000"/>
              <a:buFont typeface="Calibri"/>
              <a:buNone/>
            </a:pPr>
            <a:endParaRPr sz="1400" b="0" i="0" u="none" strike="noStrike" cap="none">
              <a:solidFill>
                <a:srgbClr val="000000"/>
              </a:solidFill>
              <a:latin typeface="Arial"/>
              <a:ea typeface="Arial"/>
              <a:cs typeface="Arial"/>
              <a:sym typeface="Arial"/>
            </a:endParaRPr>
          </a:p>
        </p:txBody>
      </p:sp>
      <p:sp>
        <p:nvSpPr>
          <p:cNvPr id="70" name="Google Shape;70;p3"/>
          <p:cNvSpPr txBox="1">
            <a:spLocks noGrp="1"/>
          </p:cNvSpPr>
          <p:nvPr>
            <p:ph type="title"/>
          </p:nvPr>
        </p:nvSpPr>
        <p:spPr>
          <a:xfrm>
            <a:off x="498448" y="60450"/>
            <a:ext cx="4812667" cy="696597"/>
          </a:xfrm>
          <a:prstGeom prst="rect">
            <a:avLst/>
          </a:prstGeom>
          <a:noFill/>
          <a:ln>
            <a:noFill/>
          </a:ln>
        </p:spPr>
        <p:txBody>
          <a:bodyPr spcFirstLastPara="1" wrap="square" lIns="0" tIns="0" rIns="0" bIns="0" anchor="t" anchorCtr="0">
            <a:normAutofit/>
          </a:bodyPr>
          <a:lstStyle/>
          <a:p>
            <a:pPr marL="0" lvl="0" indent="12700" algn="l" rtl="0">
              <a:lnSpc>
                <a:spcPct val="100000"/>
              </a:lnSpc>
              <a:spcBef>
                <a:spcPts val="0"/>
              </a:spcBef>
              <a:spcAft>
                <a:spcPts val="0"/>
              </a:spcAft>
              <a:buClr>
                <a:srgbClr val="000000"/>
              </a:buClr>
              <a:buSzPts val="4000"/>
              <a:buFont typeface="Arial"/>
              <a:buNone/>
            </a:pPr>
            <a:r>
              <a:rPr lang="en-US" sz="4000">
                <a:latin typeface="Arial"/>
                <a:ea typeface="Arial"/>
                <a:cs typeface="Arial"/>
                <a:sym typeface="Arial"/>
              </a:rPr>
              <a:t>Problem</a:t>
            </a:r>
            <a:r>
              <a:rPr lang="en-US" sz="4400"/>
              <a:t> Statement</a:t>
            </a:r>
            <a:endParaRPr/>
          </a:p>
        </p:txBody>
      </p:sp>
      <p:sp>
        <p:nvSpPr>
          <p:cNvPr id="71" name="Google Shape;71;p3"/>
          <p:cNvSpPr txBox="1"/>
          <p:nvPr/>
        </p:nvSpPr>
        <p:spPr>
          <a:xfrm>
            <a:off x="292984" y="3962401"/>
            <a:ext cx="8194096" cy="1120122"/>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p:txBody>
      </p:sp>
      <p:sp>
        <p:nvSpPr>
          <p:cNvPr id="72" name="Google Shape;72;p3"/>
          <p:cNvSpPr/>
          <p:nvPr/>
        </p:nvSpPr>
        <p:spPr>
          <a:xfrm>
            <a:off x="123576" y="855593"/>
            <a:ext cx="8727440" cy="5858014"/>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 many scenarios, traditional voting systems face several challenges such as lack of accessibility, time-consuming processes, and risk of human errors. Managing elections manually can lead to inefficiencies and reduced transparency.</a:t>
            </a: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There is no centralized system to:</a:t>
            </a:r>
            <a:endParaRPr/>
          </a:p>
          <a:p>
            <a:pPr marL="0" marR="0" lvl="0" indent="-114300" algn="just" rtl="0">
              <a:lnSpc>
                <a:spcPct val="15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 </a:t>
            </a:r>
            <a:r>
              <a:rPr lang="en-US" sz="1800" b="0" i="0" u="none" strike="noStrike" cap="none">
                <a:solidFill>
                  <a:schemeClr val="dk1"/>
                </a:solidFill>
                <a:latin typeface="Times New Roman"/>
                <a:ea typeface="Times New Roman"/>
                <a:cs typeface="Times New Roman"/>
                <a:sym typeface="Times New Roman"/>
              </a:rPr>
              <a:t>Conduct elections in a secure and efficient manner</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Ensure fair and transparent voting</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Prevent duplicate or unauthorized voting</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Manage candidates and election data effectively</a:t>
            </a:r>
            <a:endParaRPr/>
          </a:p>
          <a:p>
            <a:pPr marL="0" marR="0" lvl="0" indent="0" algn="just" rtl="0">
              <a:lnSpc>
                <a:spcPct val="150000"/>
              </a:lnSpc>
              <a:spcBef>
                <a:spcPts val="0"/>
              </a:spcBef>
              <a:spcAft>
                <a:spcPts val="0"/>
              </a:spcAft>
              <a:buNone/>
            </a:pP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This often results in delays, inaccuracies in vote counting, limited accessibility, and lack of trust in the system.</a:t>
            </a: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Therefore, there is a need for an </a:t>
            </a:r>
            <a:r>
              <a:rPr lang="en-US" sz="1800" b="1" i="0" u="none" strike="noStrike" cap="none">
                <a:solidFill>
                  <a:schemeClr val="dk1"/>
                </a:solidFill>
                <a:latin typeface="Times New Roman"/>
                <a:ea typeface="Times New Roman"/>
                <a:cs typeface="Times New Roman"/>
                <a:sym typeface="Times New Roman"/>
              </a:rPr>
              <a:t>Online Voting System</a:t>
            </a:r>
            <a:r>
              <a:rPr lang="en-US" sz="1800" b="0" i="0" u="none" strike="noStrike" cap="none">
                <a:solidFill>
                  <a:schemeClr val="dk1"/>
                </a:solidFill>
                <a:latin typeface="Times New Roman"/>
                <a:ea typeface="Times New Roman"/>
                <a:cs typeface="Times New Roman"/>
                <a:sym typeface="Times New Roman"/>
              </a:rPr>
              <a:t> that provides a secure, reliable, and scalable platform to manage elections digitally, ensuring transparency, accuracy, and ease of participation.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313259" y="29336"/>
            <a:ext cx="5576214" cy="720726"/>
          </a:xfrm>
          <a:prstGeom prst="rect">
            <a:avLst/>
          </a:prstGeom>
          <a:noFill/>
          <a:ln>
            <a:noFill/>
          </a:ln>
        </p:spPr>
        <p:txBody>
          <a:bodyPr spcFirstLastPara="1" wrap="square" lIns="0" tIns="0" rIns="0" bIns="0" anchor="t" anchorCtr="0">
            <a:normAutofit/>
          </a:bodyPr>
          <a:lstStyle/>
          <a:p>
            <a:pPr marL="0" marR="5080" lvl="0" indent="12700" algn="l" rtl="0">
              <a:lnSpc>
                <a:spcPct val="104166"/>
              </a:lnSpc>
              <a:spcBef>
                <a:spcPts val="0"/>
              </a:spcBef>
              <a:spcAft>
                <a:spcPts val="0"/>
              </a:spcAft>
              <a:buClr>
                <a:srgbClr val="000000"/>
              </a:buClr>
              <a:buSzPts val="2400"/>
              <a:buFont typeface="Arial"/>
              <a:buNone/>
            </a:pPr>
            <a:r>
              <a:rPr lang="en-US" sz="4300">
                <a:latin typeface="Arial"/>
                <a:ea typeface="Arial"/>
                <a:cs typeface="Arial"/>
                <a:sym typeface="Arial"/>
              </a:rPr>
              <a:t>Benefits</a:t>
            </a:r>
            <a:endParaRPr sz="7300"/>
          </a:p>
        </p:txBody>
      </p:sp>
      <p:sp>
        <p:nvSpPr>
          <p:cNvPr id="78" name="Google Shape;78;p4"/>
          <p:cNvSpPr/>
          <p:nvPr/>
        </p:nvSpPr>
        <p:spPr>
          <a:xfrm>
            <a:off x="111760" y="1333011"/>
            <a:ext cx="8270240" cy="4524315"/>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Secure Voting System</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Ensures safe and reliable voting using authentication and encryption mechanisms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Centralized Management</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Provides a single platform to manage elections, candidates, and users efficiently</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Clear Role-Based Access</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Defines roles such as Admin and Voter to ensure controlled and secure operations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Real-Time Voting &amp; Results</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Allows instant vote casting and quick result calculation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Prevention of Duplicate Voting</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Ensures that each user can vote only once using validation mechanisms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Enhanced Transparency</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Maintains accurate records of votes and results, improving trust in the system</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Easy Accessibility</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Users can participate in elections from anywhere through a digital platform</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Efficient Election Management</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Admins can create, manage, start, and end elections smoothly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5"/>
          <p:cNvSpPr/>
          <p:nvPr/>
        </p:nvSpPr>
        <p:spPr>
          <a:xfrm>
            <a:off x="4419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 name="Google Shape;84;p5"/>
          <p:cNvSpPr txBox="1"/>
          <p:nvPr/>
        </p:nvSpPr>
        <p:spPr>
          <a:xfrm>
            <a:off x="4301614" y="1209459"/>
            <a:ext cx="4709650"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User Roles</a:t>
            </a:r>
            <a:endParaRPr/>
          </a:p>
          <a:p>
            <a:pPr marL="0" marR="0" lvl="0" indent="0" algn="l" rtl="0">
              <a:lnSpc>
                <a:spcPct val="10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a:t>
            </a:r>
            <a:r>
              <a:rPr lang="en-US" sz="1800" b="1" i="0" u="none" strike="noStrike" cap="none">
                <a:solidFill>
                  <a:srgbClr val="000000"/>
                </a:solidFill>
                <a:latin typeface="Times New Roman"/>
                <a:ea typeface="Times New Roman"/>
                <a:cs typeface="Times New Roman"/>
                <a:sym typeface="Times New Roman"/>
              </a:rPr>
              <a:t>Admin</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Manages elections and candidates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Controls system operations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Has full access to all functionalities</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 </a:t>
            </a:r>
            <a:r>
              <a:rPr lang="en-US" sz="1800" b="1" i="0" u="none" strike="noStrike" cap="none">
                <a:solidFill>
                  <a:srgbClr val="000000"/>
                </a:solidFill>
                <a:latin typeface="Times New Roman"/>
                <a:ea typeface="Times New Roman"/>
                <a:cs typeface="Times New Roman"/>
                <a:sym typeface="Times New Roman"/>
              </a:rPr>
              <a:t>Voter</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Registers and logs into the system</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Views elections and candidates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Casts vote securely (only once)</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5" name="Google Shape;85;p5"/>
          <p:cNvSpPr txBox="1"/>
          <p:nvPr/>
        </p:nvSpPr>
        <p:spPr>
          <a:xfrm>
            <a:off x="132736" y="1081638"/>
            <a:ext cx="4075500"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System Modules</a:t>
            </a:r>
            <a:endParaRPr dirty="0"/>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User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Handles user registration, login, and role management</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Authentication Module </a:t>
            </a:r>
            <a:endParaRPr sz="1600" b="1"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Manages secure login using JWT and password encryption</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Election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Allows admin to create, start, and end elections</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Candidate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Enables adding, viewing, and deleting candidates with image upload</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Voting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Allows users to cast votes securely with one vote per user restriction</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Result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Calculates total votes and determines the winner</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a:spLocks noGrp="1"/>
          </p:cNvSpPr>
          <p:nvPr>
            <p:ph type="title"/>
          </p:nvPr>
        </p:nvSpPr>
        <p:spPr>
          <a:xfrm>
            <a:off x="215900" y="216533"/>
            <a:ext cx="4660900" cy="382158"/>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2400"/>
              <a:buFont typeface="Calibri"/>
              <a:buNone/>
            </a:pPr>
            <a:r>
              <a:rPr lang="en-US" sz="2400" b="1">
                <a:latin typeface="Calibri"/>
                <a:ea typeface="Calibri"/>
                <a:cs typeface="Calibri"/>
                <a:sym typeface="Calibri"/>
              </a:rPr>
              <a:t>Key Features and Functionality</a:t>
            </a:r>
            <a:endParaRPr/>
          </a:p>
        </p:txBody>
      </p:sp>
      <p:sp>
        <p:nvSpPr>
          <p:cNvPr id="91" name="Google Shape;91;p6"/>
          <p:cNvSpPr/>
          <p:nvPr/>
        </p:nvSpPr>
        <p:spPr>
          <a:xfrm>
            <a:off x="127820" y="1452308"/>
            <a:ext cx="8888360" cy="4524275"/>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User Registration &amp; Authentication</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Users can securely register and log in using JWT-based authentication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Election Creation &amp; Management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Admin can create, start, and end elections efficiently</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Candidate Management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Admins can add, view, and delete candidates along with their details and images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Secure Voting System</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Users can cast their vote in an election with proper validation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One User One Vote</a:t>
            </a:r>
            <a:br>
              <a:rPr lang="en-US" sz="1800" b="0" i="0" u="none" strike="noStrike" cap="none" dirty="0">
                <a:solidFill>
                  <a:schemeClr val="dk1"/>
                </a:solidFill>
                <a:latin typeface="Arial"/>
                <a:ea typeface="Arial"/>
                <a:cs typeface="Arial"/>
                <a:sym typeface="Arial"/>
              </a:rPr>
            </a:br>
            <a:r>
              <a:rPr lang="en-US" sz="1800" dirty="0">
                <a:solidFill>
                  <a:schemeClr val="dk1"/>
                </a:solidFill>
              </a:rPr>
              <a:t>E</a:t>
            </a:r>
            <a:r>
              <a:rPr lang="en-US" sz="1800" b="0" i="0" u="none" strike="noStrike" cap="none" dirty="0">
                <a:solidFill>
                  <a:schemeClr val="dk1"/>
                </a:solidFill>
                <a:latin typeface="Arial"/>
                <a:ea typeface="Arial"/>
                <a:cs typeface="Arial"/>
                <a:sym typeface="Arial"/>
              </a:rPr>
              <a:t>nsures that each user can vote only once per election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Result Calculation</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Votes are counted automatically and results are generated</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Image Upload Support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Candidate images are uploaded using Multer and stored on </a:t>
            </a:r>
            <a:r>
              <a:rPr lang="en-US" sz="1800" b="0" i="0" u="none" strike="noStrike" cap="none" dirty="0" err="1">
                <a:solidFill>
                  <a:schemeClr val="dk1"/>
                </a:solidFill>
                <a:latin typeface="Arial"/>
                <a:ea typeface="Arial"/>
                <a:cs typeface="Arial"/>
                <a:sym typeface="Arial"/>
              </a:rPr>
              <a:t>Cloudinary</a:t>
            </a:r>
            <a:endParaRPr sz="18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Role-Based Access Control</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Different permissions for Admin and Voter ensure system security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title"/>
          </p:nvPr>
        </p:nvSpPr>
        <p:spPr>
          <a:xfrm>
            <a:off x="-12700" y="43687"/>
            <a:ext cx="4432300" cy="696597"/>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4400"/>
              <a:buFont typeface="Calibri"/>
              <a:buNone/>
            </a:pPr>
            <a:r>
              <a:rPr lang="en-US" sz="4400">
                <a:latin typeface="Calibri"/>
                <a:ea typeface="Calibri"/>
                <a:cs typeface="Calibri"/>
                <a:sym typeface="Calibri"/>
              </a:rPr>
              <a:t>   Technical Details</a:t>
            </a:r>
            <a:endParaRPr/>
          </a:p>
        </p:txBody>
      </p:sp>
      <p:sp>
        <p:nvSpPr>
          <p:cNvPr id="97" name="Google Shape;97;p7"/>
          <p:cNvSpPr txBox="1">
            <a:spLocks noGrp="1"/>
          </p:cNvSpPr>
          <p:nvPr>
            <p:ph type="body" idx="1"/>
          </p:nvPr>
        </p:nvSpPr>
        <p:spPr>
          <a:xfrm>
            <a:off x="68263" y="959734"/>
            <a:ext cx="9004617" cy="5632271"/>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Backend Framework</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Built using </a:t>
            </a:r>
            <a:r>
              <a:rPr lang="en-US" sz="1800" b="1" i="0" u="none" strike="noStrike" cap="none" dirty="0">
                <a:solidFill>
                  <a:schemeClr val="dk1"/>
                </a:solidFill>
                <a:latin typeface="Times New Roman"/>
                <a:ea typeface="Times New Roman"/>
                <a:cs typeface="Times New Roman"/>
                <a:sym typeface="Times New Roman"/>
              </a:rPr>
              <a:t>Node.js</a:t>
            </a:r>
            <a:r>
              <a:rPr lang="en-US" sz="1800" b="0" i="0" u="none" strike="noStrike" cap="none" dirty="0">
                <a:solidFill>
                  <a:schemeClr val="dk1"/>
                </a:solidFill>
                <a:latin typeface="Times New Roman"/>
                <a:ea typeface="Times New Roman"/>
                <a:cs typeface="Times New Roman"/>
                <a:sym typeface="Times New Roman"/>
              </a:rPr>
              <a:t> and </a:t>
            </a:r>
            <a:r>
              <a:rPr lang="en-US" sz="1800" b="1" i="0" u="none" strike="noStrike" cap="none" dirty="0">
                <a:solidFill>
                  <a:schemeClr val="dk1"/>
                </a:solidFill>
                <a:latin typeface="Times New Roman"/>
                <a:ea typeface="Times New Roman"/>
                <a:cs typeface="Times New Roman"/>
                <a:sym typeface="Times New Roman"/>
              </a:rPr>
              <a:t>Express.js</a:t>
            </a:r>
            <a:r>
              <a:rPr lang="en-US" sz="1800" b="0" i="0" u="none" strike="noStrike" cap="none" dirty="0">
                <a:solidFill>
                  <a:schemeClr val="dk1"/>
                </a:solidFill>
                <a:latin typeface="Times New Roman"/>
                <a:ea typeface="Times New Roman"/>
                <a:cs typeface="Times New Roman"/>
                <a:sym typeface="Times New Roman"/>
              </a:rPr>
              <a:t> to develop scalable RESTful APIs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Architecture Design</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Follows a </a:t>
            </a:r>
            <a:r>
              <a:rPr lang="en-US" sz="1800" b="1" i="0" u="none" strike="noStrike" cap="none" dirty="0">
                <a:solidFill>
                  <a:schemeClr val="dk1"/>
                </a:solidFill>
                <a:latin typeface="Times New Roman"/>
                <a:ea typeface="Times New Roman"/>
                <a:cs typeface="Times New Roman"/>
                <a:sym typeface="Times New Roman"/>
              </a:rPr>
              <a:t>modular architecture</a:t>
            </a:r>
            <a:r>
              <a:rPr lang="en-US" sz="1800" i="0" u="none" strike="noStrike" cap="none" dirty="0">
                <a:solidFill>
                  <a:schemeClr val="dk1"/>
                </a:solidFill>
                <a:latin typeface="Times New Roman"/>
                <a:ea typeface="Times New Roman"/>
                <a:cs typeface="Times New Roman"/>
                <a:sym typeface="Times New Roman"/>
              </a:rPr>
              <a:t>(divided into different modules)</a:t>
            </a:r>
            <a:r>
              <a:rPr lang="en-US" sz="1800" b="0" i="0" u="none" strike="noStrike" cap="none" dirty="0">
                <a:solidFill>
                  <a:schemeClr val="dk1"/>
                </a:solidFill>
                <a:latin typeface="Times New Roman"/>
                <a:ea typeface="Times New Roman"/>
                <a:cs typeface="Times New Roman"/>
                <a:sym typeface="Times New Roman"/>
              </a:rPr>
              <a:t>for clean and maintainable code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Database &amp; ORM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Uses </a:t>
            </a:r>
            <a:r>
              <a:rPr lang="en-US" sz="1800" b="1" i="0" u="none" strike="noStrike" cap="none" dirty="0">
                <a:solidFill>
                  <a:schemeClr val="dk1"/>
                </a:solidFill>
                <a:latin typeface="Times New Roman"/>
                <a:ea typeface="Times New Roman"/>
                <a:cs typeface="Times New Roman"/>
                <a:sym typeface="Times New Roman"/>
              </a:rPr>
              <a:t>MySQL</a:t>
            </a:r>
            <a:r>
              <a:rPr lang="en-US" sz="1800" b="0" i="0" u="none" strike="noStrike" cap="none" dirty="0">
                <a:solidFill>
                  <a:schemeClr val="dk1"/>
                </a:solidFill>
                <a:latin typeface="Times New Roman"/>
                <a:ea typeface="Times New Roman"/>
                <a:cs typeface="Times New Roman"/>
                <a:sym typeface="Times New Roman"/>
              </a:rPr>
              <a:t> with </a:t>
            </a:r>
            <a:r>
              <a:rPr lang="en-US" sz="1800" b="1" i="0" u="none" strike="noStrike" cap="none" dirty="0" err="1">
                <a:solidFill>
                  <a:schemeClr val="dk1"/>
                </a:solidFill>
                <a:latin typeface="Times New Roman"/>
                <a:ea typeface="Times New Roman"/>
                <a:cs typeface="Times New Roman"/>
                <a:sym typeface="Times New Roman"/>
              </a:rPr>
              <a:t>Sequelize</a:t>
            </a:r>
            <a:r>
              <a:rPr lang="en-US" sz="1800" b="1" i="0" u="none" strike="noStrike" cap="none" dirty="0">
                <a:solidFill>
                  <a:schemeClr val="dk1"/>
                </a:solidFill>
                <a:latin typeface="Times New Roman"/>
                <a:ea typeface="Times New Roman"/>
                <a:cs typeface="Times New Roman"/>
                <a:sym typeface="Times New Roman"/>
              </a:rPr>
              <a:t> ORM</a:t>
            </a:r>
            <a:r>
              <a:rPr lang="en-US" sz="1800" b="0" i="0" u="none" strike="noStrike" cap="none" dirty="0">
                <a:solidFill>
                  <a:schemeClr val="dk1"/>
                </a:solidFill>
                <a:latin typeface="Times New Roman"/>
                <a:ea typeface="Times New Roman"/>
                <a:cs typeface="Times New Roman"/>
                <a:sym typeface="Times New Roman"/>
              </a:rPr>
              <a:t> for managing relational data and associations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Authentication Mechanism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Implements </a:t>
            </a:r>
            <a:r>
              <a:rPr lang="en-US" sz="1800" b="1" i="0" u="none" strike="noStrike" cap="none" dirty="0">
                <a:solidFill>
                  <a:schemeClr val="dk1"/>
                </a:solidFill>
                <a:latin typeface="Times New Roman"/>
                <a:ea typeface="Times New Roman"/>
                <a:cs typeface="Times New Roman"/>
                <a:sym typeface="Times New Roman"/>
              </a:rPr>
              <a:t>JWT-based authentication</a:t>
            </a:r>
            <a:r>
              <a:rPr lang="en-US" sz="1800" b="0" i="0" u="none" strike="noStrike" cap="none" dirty="0">
                <a:solidFill>
                  <a:schemeClr val="dk1"/>
                </a:solidFill>
                <a:latin typeface="Times New Roman"/>
                <a:ea typeface="Times New Roman"/>
                <a:cs typeface="Times New Roman"/>
                <a:sym typeface="Times New Roman"/>
              </a:rPr>
              <a:t> for secure and stateless user sessions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Authorization Control</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Role-based access control (Admin &amp; Voter) using middleware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Middleware Usage</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Custom middleware for authentication, role verification, vote restriction, and file handling</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File Upload System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Integrated </a:t>
            </a:r>
            <a:r>
              <a:rPr lang="en-US" sz="1800" b="1" i="0" u="none" strike="noStrike" cap="none" dirty="0">
                <a:solidFill>
                  <a:schemeClr val="dk1"/>
                </a:solidFill>
                <a:latin typeface="Times New Roman"/>
                <a:ea typeface="Times New Roman"/>
                <a:cs typeface="Times New Roman"/>
                <a:sym typeface="Times New Roman"/>
              </a:rPr>
              <a:t>Multer</a:t>
            </a:r>
            <a:r>
              <a:rPr lang="en-US" sz="1800" b="0" i="0" u="none" strike="noStrike" cap="none" dirty="0">
                <a:solidFill>
                  <a:schemeClr val="dk1"/>
                </a:solidFill>
                <a:latin typeface="Times New Roman"/>
                <a:ea typeface="Times New Roman"/>
                <a:cs typeface="Times New Roman"/>
                <a:sym typeface="Times New Roman"/>
              </a:rPr>
              <a:t> for file handling and </a:t>
            </a:r>
            <a:r>
              <a:rPr lang="en-US" sz="1800" b="1" i="0" u="none" strike="noStrike" cap="none" dirty="0" err="1">
                <a:solidFill>
                  <a:schemeClr val="dk1"/>
                </a:solidFill>
                <a:latin typeface="Times New Roman"/>
                <a:ea typeface="Times New Roman"/>
                <a:cs typeface="Times New Roman"/>
                <a:sym typeface="Times New Roman"/>
              </a:rPr>
              <a:t>Cloudinary</a:t>
            </a:r>
            <a:r>
              <a:rPr lang="en-US" sz="1800" b="0" i="0" u="none" strike="noStrike" cap="none" dirty="0">
                <a:solidFill>
                  <a:schemeClr val="dk1"/>
                </a:solidFill>
                <a:latin typeface="Times New Roman"/>
                <a:ea typeface="Times New Roman"/>
                <a:cs typeface="Times New Roman"/>
                <a:sym typeface="Times New Roman"/>
              </a:rPr>
              <a:t> for cloud-based image storage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API Design</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RESTful APIs for handling operations like authentication, elections, candidates, voting, and results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Testing &amp; Debugging</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APIs tested using HTTP client tools (REST Client/Postman) for validation and debugging</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38cc1880d77_0_14"/>
          <p:cNvSpPr txBox="1">
            <a:spLocks noGrp="1"/>
          </p:cNvSpPr>
          <p:nvPr>
            <p:ph type="title"/>
          </p:nvPr>
        </p:nvSpPr>
        <p:spPr>
          <a:xfrm>
            <a:off x="216309" y="973394"/>
            <a:ext cx="8711381" cy="525042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00000"/>
              </a:buClr>
              <a:buSzPts val="1800"/>
              <a:buNone/>
            </a:pPr>
            <a:r>
              <a:rPr lang="en-US" sz="1600" b="1" dirty="0"/>
              <a:t>1. Users Table </a:t>
            </a:r>
            <a:r>
              <a:rPr lang="en-US" sz="1600" b="1" i="1" dirty="0"/>
              <a:t>(Stores user information)</a:t>
            </a:r>
            <a:br>
              <a:rPr lang="en-US" sz="1600" b="1" dirty="0"/>
            </a:br>
            <a:r>
              <a:rPr lang="en-US" sz="1600" b="1" dirty="0"/>
              <a:t>Fields:</a:t>
            </a:r>
            <a:br>
              <a:rPr lang="en-US" sz="1600" dirty="0"/>
            </a:br>
            <a:r>
              <a:rPr lang="en-US" sz="1600" dirty="0"/>
              <a:t>id – Primary key</a:t>
            </a:r>
            <a:br>
              <a:rPr lang="en-US" sz="1600" dirty="0"/>
            </a:br>
            <a:r>
              <a:rPr lang="en-US" sz="1600" dirty="0"/>
              <a:t>name – User name</a:t>
            </a:r>
            <a:br>
              <a:rPr lang="en-US" sz="1600" dirty="0"/>
            </a:br>
            <a:r>
              <a:rPr lang="en-US" sz="1600" dirty="0"/>
              <a:t>email – Unique email</a:t>
            </a:r>
            <a:br>
              <a:rPr lang="en-US" sz="1600" dirty="0"/>
            </a:br>
            <a:r>
              <a:rPr lang="en-US" sz="1600" dirty="0"/>
              <a:t>password –Hashed password</a:t>
            </a:r>
            <a:br>
              <a:rPr lang="en-US" sz="1600" dirty="0"/>
            </a:br>
            <a:r>
              <a:rPr lang="en-US" sz="1600" dirty="0"/>
              <a:t>role – (admin, voter)</a:t>
            </a:r>
            <a:br>
              <a:rPr lang="en-US" sz="1600" dirty="0"/>
            </a:br>
            <a:r>
              <a:rPr lang="en-US" sz="1600" dirty="0" err="1"/>
              <a:t>is_verified</a:t>
            </a:r>
            <a:r>
              <a:rPr lang="en-US" sz="1600" dirty="0"/>
              <a:t> – Verification status</a:t>
            </a:r>
            <a:br>
              <a:rPr lang="en-US" sz="1600" dirty="0"/>
            </a:br>
            <a:br>
              <a:rPr lang="en-US" sz="1600" dirty="0"/>
            </a:br>
            <a:r>
              <a:rPr lang="en-US" sz="1600" dirty="0"/>
              <a:t>👉 Used for authentication and role-based access</a:t>
            </a:r>
            <a:br>
              <a:rPr lang="en-US" sz="1600" dirty="0"/>
            </a:br>
            <a:br>
              <a:rPr lang="en-US" sz="1600" dirty="0"/>
            </a:br>
            <a:br>
              <a:rPr lang="en-US" sz="1600" dirty="0"/>
            </a:br>
            <a:r>
              <a:rPr lang="en-US" sz="1600" b="1" dirty="0"/>
              <a:t>2. Elections Table </a:t>
            </a:r>
            <a:r>
              <a:rPr lang="en-US" sz="1600" b="1" i="1" dirty="0"/>
              <a:t>(Stores election details)</a:t>
            </a:r>
            <a:br>
              <a:rPr lang="en-US" sz="1600" b="1" dirty="0"/>
            </a:br>
            <a:r>
              <a:rPr lang="en-US" sz="1600" b="1" dirty="0"/>
              <a:t>Fields:</a:t>
            </a:r>
            <a:br>
              <a:rPr lang="en-US" sz="1600" dirty="0"/>
            </a:br>
            <a:r>
              <a:rPr lang="en-US" sz="1600" dirty="0"/>
              <a:t>id – Primary key</a:t>
            </a:r>
            <a:br>
              <a:rPr lang="en-US" sz="1600" dirty="0"/>
            </a:br>
            <a:r>
              <a:rPr lang="en-US" sz="1600" dirty="0"/>
              <a:t>title – Election name</a:t>
            </a:r>
            <a:br>
              <a:rPr lang="en-US" sz="1600" dirty="0"/>
            </a:br>
            <a:r>
              <a:rPr lang="en-US" sz="1600" dirty="0"/>
              <a:t>description – Details about election</a:t>
            </a:r>
            <a:br>
              <a:rPr lang="en-US" sz="1600" dirty="0"/>
            </a:br>
            <a:r>
              <a:rPr lang="en-US" sz="1600" dirty="0" err="1"/>
              <a:t>start_time</a:t>
            </a:r>
            <a:r>
              <a:rPr lang="en-US" sz="1600" dirty="0"/>
              <a:t> – Start time</a:t>
            </a:r>
            <a:br>
              <a:rPr lang="en-US" sz="1600" dirty="0"/>
            </a:br>
            <a:r>
              <a:rPr lang="en-US" sz="1600" dirty="0" err="1"/>
              <a:t>end_time</a:t>
            </a:r>
            <a:r>
              <a:rPr lang="en-US" sz="1600" dirty="0"/>
              <a:t> – End time</a:t>
            </a:r>
            <a:br>
              <a:rPr lang="en-US" sz="1600" dirty="0"/>
            </a:br>
            <a:br>
              <a:rPr lang="en-US" sz="1600" dirty="0"/>
            </a:br>
            <a:r>
              <a:rPr lang="en-US" sz="1600" dirty="0"/>
              <a:t>👉 One election can have multiple candidates</a:t>
            </a:r>
            <a:br>
              <a:rPr lang="en-US" sz="1600" dirty="0"/>
            </a:br>
            <a:br>
              <a:rPr lang="en-US" sz="1600" dirty="0"/>
            </a:br>
            <a:br>
              <a:rPr lang="en-US" sz="1600" dirty="0"/>
            </a:br>
            <a:endParaRPr sz="1600" dirty="0"/>
          </a:p>
        </p:txBody>
      </p:sp>
      <p:sp>
        <p:nvSpPr>
          <p:cNvPr id="103" name="Google Shape;103;g38cc1880d77_0_14"/>
          <p:cNvSpPr txBox="1"/>
          <p:nvPr/>
        </p:nvSpPr>
        <p:spPr>
          <a:xfrm>
            <a:off x="127820" y="196645"/>
            <a:ext cx="276389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Tables Overview</a:t>
            </a:r>
            <a:endParaRPr sz="2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8"/>
          <p:cNvSpPr txBox="1">
            <a:spLocks noGrp="1"/>
          </p:cNvSpPr>
          <p:nvPr>
            <p:ph type="title"/>
          </p:nvPr>
        </p:nvSpPr>
        <p:spPr>
          <a:xfrm>
            <a:off x="264585" y="1065153"/>
            <a:ext cx="8407467" cy="519799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00000"/>
              </a:buClr>
              <a:buSzPts val="1800"/>
              <a:buNone/>
            </a:pPr>
            <a:r>
              <a:rPr lang="en-US" sz="1600" b="1"/>
              <a:t>3. Candidates Table </a:t>
            </a:r>
            <a:r>
              <a:rPr lang="en-US" sz="1600" b="1" i="1"/>
              <a:t>(Stores candidate details)</a:t>
            </a:r>
            <a:br>
              <a:rPr lang="en-US" sz="1600" b="1"/>
            </a:br>
            <a:r>
              <a:rPr lang="en-US" sz="1600" b="1"/>
              <a:t>Fields:</a:t>
            </a:r>
            <a:br>
              <a:rPr lang="en-US" sz="1600"/>
            </a:br>
            <a:r>
              <a:rPr lang="en-US" sz="1600"/>
              <a:t>id – Primary key</a:t>
            </a:r>
            <a:br>
              <a:rPr lang="en-US" sz="1600"/>
            </a:br>
            <a:r>
              <a:rPr lang="en-US" sz="1600"/>
              <a:t>name – Candidate name</a:t>
            </a:r>
            <a:br>
              <a:rPr lang="en-US" sz="1600"/>
            </a:br>
            <a:r>
              <a:rPr lang="en-US" sz="1600"/>
              <a:t>party – Party name</a:t>
            </a:r>
            <a:br>
              <a:rPr lang="en-US" sz="1600"/>
            </a:br>
            <a:r>
              <a:rPr lang="en-US" sz="1600"/>
              <a:t>photo – Image URL (Cloudinary)</a:t>
            </a:r>
            <a:br>
              <a:rPr lang="en-US" sz="1600"/>
            </a:br>
            <a:r>
              <a:rPr lang="en-US" sz="1600"/>
              <a:t>election_id – Linked to election</a:t>
            </a:r>
            <a:br>
              <a:rPr lang="en-US" sz="1600"/>
            </a:br>
            <a:br>
              <a:rPr lang="en-US" sz="1600"/>
            </a:br>
            <a:r>
              <a:rPr lang="en-US" sz="1600"/>
              <a:t>👉 Each candidate belongs to one election</a:t>
            </a:r>
            <a:br>
              <a:rPr lang="en-US" sz="1600"/>
            </a:br>
            <a:br>
              <a:rPr lang="en-US" sz="1600"/>
            </a:br>
            <a:br>
              <a:rPr lang="en-US" sz="1600"/>
            </a:br>
            <a:r>
              <a:rPr lang="en-US" sz="1600" b="1"/>
              <a:t>4. Votes Table </a:t>
            </a:r>
            <a:r>
              <a:rPr lang="en-US" sz="1600" b="1" i="1"/>
              <a:t>(Stores voting records)</a:t>
            </a:r>
            <a:br>
              <a:rPr lang="en-US" sz="1600" b="1"/>
            </a:br>
            <a:r>
              <a:rPr lang="en-US" sz="1600" b="1"/>
              <a:t>Fields:</a:t>
            </a:r>
            <a:br>
              <a:rPr lang="en-US" sz="1600"/>
            </a:br>
            <a:r>
              <a:rPr lang="en-US" sz="1600"/>
              <a:t>id – Primary key</a:t>
            </a:r>
            <a:br>
              <a:rPr lang="en-US" sz="1600"/>
            </a:br>
            <a:r>
              <a:rPr lang="en-US" sz="1600"/>
              <a:t>voter_id – User who voted</a:t>
            </a:r>
            <a:br>
              <a:rPr lang="en-US" sz="1600"/>
            </a:br>
            <a:r>
              <a:rPr lang="en-US" sz="1600"/>
              <a:t>candidate_id – Selected candidate</a:t>
            </a:r>
            <a:br>
              <a:rPr lang="en-US" sz="1600"/>
            </a:br>
            <a:r>
              <a:rPr lang="en-US" sz="1600"/>
              <a:t>election_id – Related election</a:t>
            </a:r>
            <a:br>
              <a:rPr lang="en-US" sz="1600"/>
            </a:br>
            <a:br>
              <a:rPr lang="en-US" sz="1600"/>
            </a:br>
            <a:r>
              <a:rPr lang="en-US" sz="1600"/>
              <a:t>👉 Ensures one vote per user per election</a:t>
            </a:r>
            <a:br>
              <a:rPr lang="en-US" sz="1600"/>
            </a:b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9"/>
          <p:cNvSpPr txBox="1">
            <a:spLocks noGrp="1"/>
          </p:cNvSpPr>
          <p:nvPr>
            <p:ph type="title"/>
          </p:nvPr>
        </p:nvSpPr>
        <p:spPr>
          <a:xfrm>
            <a:off x="241068" y="1083005"/>
            <a:ext cx="8539138" cy="520964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rgbClr val="000000"/>
              </a:buClr>
              <a:buSzPts val="1800"/>
              <a:buNone/>
            </a:pPr>
            <a:r>
              <a:rPr lang="en-US" sz="1800" b="1"/>
              <a:t>5. Results Table </a:t>
            </a:r>
            <a:r>
              <a:rPr lang="en-US" sz="1800" b="1" i="1"/>
              <a:t>(Stores computed results)</a:t>
            </a:r>
            <a:br>
              <a:rPr lang="en-US" sz="1800" b="1"/>
            </a:br>
            <a:r>
              <a:rPr lang="en-US" sz="1800" b="1"/>
              <a:t>Fields:</a:t>
            </a:r>
            <a:br>
              <a:rPr lang="en-US" sz="1800"/>
            </a:br>
            <a:r>
              <a:rPr lang="en-US" sz="1800"/>
              <a:t>id – Primary key</a:t>
            </a:r>
            <a:br>
              <a:rPr lang="en-US" sz="1800"/>
            </a:br>
            <a:r>
              <a:rPr lang="en-US" sz="1800"/>
              <a:t>election_id – Related election</a:t>
            </a:r>
            <a:br>
              <a:rPr lang="en-US" sz="1800"/>
            </a:br>
            <a:r>
              <a:rPr lang="en-US" sz="1800"/>
              <a:t>candidate_id – Candidate</a:t>
            </a:r>
            <a:br>
              <a:rPr lang="en-US" sz="1800"/>
            </a:br>
            <a:r>
              <a:rPr lang="en-US" sz="1800"/>
              <a:t>total_votes – Vote count</a:t>
            </a:r>
            <a:br>
              <a:rPr lang="en-US" sz="1800"/>
            </a:br>
            <a:br>
              <a:rPr lang="en-US" sz="1800"/>
            </a:br>
            <a:r>
              <a:rPr lang="en-US" sz="1800"/>
              <a:t>👉 Used to determine winner of election</a:t>
            </a:r>
            <a:br>
              <a:rPr lang="en-US" sz="1800"/>
            </a:br>
            <a:br>
              <a:rPr lang="en-US" sz="1800"/>
            </a:br>
            <a:br>
              <a:rPr lang="en-US" sz="1800"/>
            </a:br>
            <a:br>
              <a:rPr lang="en-US" sz="1800"/>
            </a:br>
            <a:br>
              <a:rPr lang="en-US" sz="1800"/>
            </a:br>
            <a:br>
              <a:rPr lang="en-US" sz="1800"/>
            </a:br>
            <a:br>
              <a:rPr lang="en-US" sz="1800"/>
            </a:br>
            <a:br>
              <a:rPr lang="en-US" sz="1800"/>
            </a:br>
            <a:br>
              <a:rPr lang="en-US" sz="1800"/>
            </a:br>
            <a:br>
              <a:rPr lang="en-US" sz="1800"/>
            </a:br>
            <a:r>
              <a:rPr lang="en-US" sz="1800"/>
              <a:t>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3"/>
          <p:cNvPicPr preferRelativeResize="0"/>
          <p:nvPr/>
        </p:nvPicPr>
        <p:blipFill rotWithShape="1">
          <a:blip r:embed="rId3">
            <a:alphaModFix/>
          </a:blip>
          <a:srcRect/>
          <a:stretch/>
        </p:blipFill>
        <p:spPr>
          <a:xfrm>
            <a:off x="127967" y="1042219"/>
            <a:ext cx="8888065" cy="54569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3" name="Picture 2">
            <a:extLst>
              <a:ext uri="{FF2B5EF4-FFF2-40B4-BE49-F238E27FC236}">
                <a16:creationId xmlns:a16="http://schemas.microsoft.com/office/drawing/2014/main" id="{48EFC362-7153-D599-3BA5-77801CF065A1}"/>
              </a:ext>
            </a:extLst>
          </p:cNvPr>
          <p:cNvPicPr>
            <a:picLocks noChangeAspect="1"/>
          </p:cNvPicPr>
          <p:nvPr/>
        </p:nvPicPr>
        <p:blipFill>
          <a:blip r:embed="rId3"/>
          <a:stretch>
            <a:fillRect/>
          </a:stretch>
        </p:blipFill>
        <p:spPr>
          <a:xfrm>
            <a:off x="0" y="1268342"/>
            <a:ext cx="9144000" cy="43213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3" name="Picture 2">
            <a:extLst>
              <a:ext uri="{FF2B5EF4-FFF2-40B4-BE49-F238E27FC236}">
                <a16:creationId xmlns:a16="http://schemas.microsoft.com/office/drawing/2014/main" id="{E979756A-4836-992C-EEFE-17700376257D}"/>
              </a:ext>
            </a:extLst>
          </p:cNvPr>
          <p:cNvPicPr>
            <a:picLocks noChangeAspect="1"/>
          </p:cNvPicPr>
          <p:nvPr/>
        </p:nvPicPr>
        <p:blipFill>
          <a:blip r:embed="rId3"/>
          <a:stretch>
            <a:fillRect/>
          </a:stretch>
        </p:blipFill>
        <p:spPr>
          <a:xfrm>
            <a:off x="0" y="1289523"/>
            <a:ext cx="9144000" cy="42789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3" name="Picture 2">
            <a:extLst>
              <a:ext uri="{FF2B5EF4-FFF2-40B4-BE49-F238E27FC236}">
                <a16:creationId xmlns:a16="http://schemas.microsoft.com/office/drawing/2014/main" id="{8DA558A4-9E1A-E936-EF6D-47508A3C852C}"/>
              </a:ext>
            </a:extLst>
          </p:cNvPr>
          <p:cNvPicPr>
            <a:picLocks noChangeAspect="1"/>
          </p:cNvPicPr>
          <p:nvPr/>
        </p:nvPicPr>
        <p:blipFill>
          <a:blip r:embed="rId3"/>
          <a:stretch>
            <a:fillRect/>
          </a:stretch>
        </p:blipFill>
        <p:spPr>
          <a:xfrm>
            <a:off x="0" y="940836"/>
            <a:ext cx="9144000" cy="49763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3" name="Picture 2">
            <a:extLst>
              <a:ext uri="{FF2B5EF4-FFF2-40B4-BE49-F238E27FC236}">
                <a16:creationId xmlns:a16="http://schemas.microsoft.com/office/drawing/2014/main" id="{098C7901-C983-9B87-4E1C-2FE3631C561B}"/>
              </a:ext>
            </a:extLst>
          </p:cNvPr>
          <p:cNvPicPr>
            <a:picLocks noChangeAspect="1"/>
          </p:cNvPicPr>
          <p:nvPr/>
        </p:nvPicPr>
        <p:blipFill>
          <a:blip r:embed="rId3"/>
          <a:stretch>
            <a:fillRect/>
          </a:stretch>
        </p:blipFill>
        <p:spPr>
          <a:xfrm>
            <a:off x="0" y="1027522"/>
            <a:ext cx="9144000" cy="53261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p>
            <a:pPr marL="0" lvl="0" indent="167639" algn="l" rtl="0">
              <a:lnSpc>
                <a:spcPct val="100000"/>
              </a:lnSpc>
              <a:spcBef>
                <a:spcPts val="0"/>
              </a:spcBef>
              <a:spcAft>
                <a:spcPts val="0"/>
              </a:spcAft>
              <a:buClr>
                <a:srgbClr val="000000"/>
              </a:buClr>
              <a:buSzPts val="5400"/>
              <a:buFont typeface="Times New Roman"/>
              <a:buNone/>
            </a:pPr>
            <a:r>
              <a:rPr lang="en-US" sz="5400" b="0" i="0" u="none" strike="noStrike" cap="none">
                <a:solidFill>
                  <a:srgbClr val="000000"/>
                </a:solidFill>
                <a:latin typeface="Times New Roman"/>
                <a:ea typeface="Times New Roman"/>
                <a:cs typeface="Times New Roman"/>
                <a:sym typeface="Times New Roman"/>
              </a:rPr>
              <a:t>Thank</a:t>
            </a:r>
            <a:r>
              <a:rPr lang="en-US"/>
              <a:t> </a:t>
            </a:r>
            <a:r>
              <a:rPr lang="en-US" sz="5400" b="0" i="0" u="none" strike="noStrike" cap="none">
                <a:solidFill>
                  <a:srgbClr val="000000"/>
                </a:solidFill>
                <a:latin typeface="Times New Roman"/>
                <a:ea typeface="Times New Roman"/>
                <a:cs typeface="Times New Roman"/>
                <a:sym typeface="Times New Roman"/>
              </a:rPr>
              <a:t>You</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1097</Words>
  <Application>Microsoft Office PowerPoint</Application>
  <PresentationFormat>On-screen Show (4:3)</PresentationFormat>
  <Paragraphs>74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Introduction</vt:lpstr>
      <vt:lpstr>Problem Statement</vt:lpstr>
      <vt:lpstr>Benefits</vt:lpstr>
      <vt:lpstr>PowerPoint Presentation</vt:lpstr>
      <vt:lpstr>Key Features and Functionality</vt:lpstr>
      <vt:lpstr>   Technical Details</vt:lpstr>
      <vt:lpstr>1. Users Table (Stores user information) Fields: id – Primary key name – User name email – Unique email password –Hashed password role – (admin, voter) is_verified – Verification status  👉 Used for authentication and role-based access   2. Elections Table (Stores election details) Fields: id – Primary key title – Election name description – Details about election start_time – Start time end_time – End time  👉 One election can have multiple candidates   </vt:lpstr>
      <vt:lpstr>3. Candidates Table (Stores candidate details) Fields: id – Primary key name – Candidate name party – Party name photo – Image URL (Cloudinary) election_id – Linked to election  👉 Each candidate belongs to one election   4. Votes Table (Stores voting records) Fields: id – Primary key voter_id – User who voted candidate_id – Selected candidate election_id – Related election  👉 Ensures one vote per user per election </vt:lpstr>
      <vt:lpstr>5. Results Table (Stores computed results) Fields: id – Primary key election_id – Related election candidate_id – Candidate total_votes – Vote count  👉 Used to determine winner of election                                                                                                                                                                                                               </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Harshita Lamba</dc:creator>
  <cp:lastModifiedBy>Harshit</cp:lastModifiedBy>
  <cp:revision>2</cp:revision>
  <dcterms:modified xsi:type="dcterms:W3CDTF">2026-05-14T14:22:48Z</dcterms:modified>
</cp:coreProperties>
</file>